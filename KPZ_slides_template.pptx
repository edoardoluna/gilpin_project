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15"/>
  </p:notesMasterIdLst>
  <p:sldIdLst>
    <p:sldId id="714" r:id="rId4"/>
    <p:sldId id="724" r:id="rId5"/>
    <p:sldId id="746" r:id="rId6"/>
    <p:sldId id="743" r:id="rId7"/>
    <p:sldId id="751" r:id="rId8"/>
    <p:sldId id="752" r:id="rId9"/>
    <p:sldId id="744" r:id="rId10"/>
    <p:sldId id="753" r:id="rId11"/>
    <p:sldId id="754" r:id="rId12"/>
    <p:sldId id="750" r:id="rId13"/>
    <p:sldId id="726" r:id="rId14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4"/>
            <p14:sldId id="724"/>
            <p14:sldId id="746"/>
            <p14:sldId id="743"/>
            <p14:sldId id="751"/>
            <p14:sldId id="752"/>
            <p14:sldId id="744"/>
            <p14:sldId id="753"/>
            <p14:sldId id="754"/>
            <p14:sldId id="750"/>
            <p14:sldId id="7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clrMru>
    <a:srgbClr val="3201E5"/>
    <a:srgbClr val="C00000"/>
    <a:srgbClr val="FF97FF"/>
    <a:srgbClr val="C01338"/>
    <a:srgbClr val="BF5700"/>
    <a:srgbClr val="C6531F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5201" autoAdjust="0"/>
  </p:normalViewPr>
  <p:slideViewPr>
    <p:cSldViewPr>
      <p:cViewPr varScale="1">
        <p:scale>
          <a:sx n="109" d="100"/>
          <a:sy n="109" d="100"/>
        </p:scale>
        <p:origin x="444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0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03BF-D188-6C4F-A997-FF9FD69D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B563D-60D0-C285-048C-6A1AE3E00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9F4BB-BC4A-2B88-EA46-BA2688842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43C3D-4816-96EF-90AB-0C4D71E78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24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39267-1340-643C-CAFB-C28CE382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81903-4833-5C6B-54EF-4A9DE6C6E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E89AE-48AA-D378-5279-69B36762E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2E859-5B57-C251-8DA7-11A2F6F0A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50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F95EB-68ED-3A58-E818-0ADC3C13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9FD04-0716-7BC1-9FBD-73C24BD73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DCB7C-B68C-B45D-9411-6684F39FE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F6D2-60B3-A46F-B412-285FB4754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88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D797-C4A5-ECA2-90FF-B5E6E336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9A57A-CE8F-EB7F-0B77-5DB28D861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F9A36-ABAE-A411-AE51-90ADF0FA7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D5685-09AF-984E-39DC-DBCA593E5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62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A9AE-9F89-BE8B-4D35-011EEED8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C1CDC-5C71-D30B-3D85-9577D3679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EBC25-DB44-1113-277A-9393C5D4E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712DD-26A0-317F-1DC5-67D0AB3E8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5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B9EE-2895-FC73-C263-3418B7B5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5A2FB-1994-D89A-F3EE-0A71627FE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6AF07-28AB-09BF-91FA-108F2ADC3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B1AD-ACF7-20AA-AEFA-646DF50CF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45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6E528-993F-4F06-F1DA-0F983E8A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4A403-EA4F-7C31-7CA6-C093397BA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8A2F2-2B9F-C554-1C7B-AB0C1762A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31102-59C9-D55E-DE2E-24C170B83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2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solidFill>
                  <a:srgbClr val="BF5700"/>
                </a:solidFill>
                <a:latin typeface="Arial Black" charset="0"/>
              </a:rPr>
              <a:t>Presenters: Jack Beardshear, **ADD names here** 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baseline="0" dirty="0">
                <a:solidFill>
                  <a:srgbClr val="BF5700"/>
                </a:solidFill>
              </a:rPr>
              <a:t>The University of Texas at Austin</a:t>
            </a:r>
            <a:endParaRPr lang="en-US" sz="105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396162" y="1295152"/>
            <a:ext cx="772668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Solutions of the KarDar-Parisi-Zhang (KPZ) equation in higher dimensions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911" y="-95250"/>
            <a:ext cx="187739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BAAD1A-EF90-9B30-BFA0-F3E3A690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10" y="514350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B6291-2DBE-6E4B-466D-9B7CDADA2E53}"/>
              </a:ext>
            </a:extLst>
          </p:cNvPr>
          <p:cNvSpPr txBox="1"/>
          <p:nvPr/>
        </p:nvSpPr>
        <p:spPr>
          <a:xfrm>
            <a:off x="0" y="4922445"/>
            <a:ext cx="2155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/>
                </a:solidFill>
                <a:effectLst/>
              </a:rPr>
              <a:t>[1] </a:t>
            </a:r>
            <a:r>
              <a:rPr lang="fr-FR" sz="800" dirty="0" err="1">
                <a:solidFill>
                  <a:schemeClr val="bg2"/>
                </a:solidFill>
              </a:rPr>
              <a:t>Libretexts</a:t>
            </a:r>
            <a:r>
              <a:rPr lang="fr-FR" sz="800" dirty="0">
                <a:solidFill>
                  <a:schemeClr val="bg2"/>
                </a:solidFill>
              </a:rPr>
              <a:t>, </a:t>
            </a:r>
            <a:r>
              <a:rPr lang="fr-FR" sz="800" dirty="0" err="1">
                <a:solidFill>
                  <a:schemeClr val="bg2"/>
                </a:solidFill>
              </a:rPr>
              <a:t>Physics</a:t>
            </a:r>
            <a:r>
              <a:rPr lang="fr-FR" sz="800" dirty="0">
                <a:solidFill>
                  <a:schemeClr val="bg2"/>
                </a:solidFill>
              </a:rPr>
              <a:t> </a:t>
            </a:r>
            <a:r>
              <a:rPr lang="fr-FR" sz="800" dirty="0" err="1">
                <a:solidFill>
                  <a:schemeClr val="bg2"/>
                </a:solidFill>
              </a:rPr>
              <a:t>LibreTexts</a:t>
            </a:r>
            <a:r>
              <a:rPr lang="fr-FR" sz="800" dirty="0">
                <a:solidFill>
                  <a:schemeClr val="bg2"/>
                </a:solidFill>
              </a:rPr>
              <a:t> (2024). </a:t>
            </a:r>
          </a:p>
          <a:p>
            <a:endParaRPr lang="en-US" sz="800" i="1" dirty="0">
              <a:solidFill>
                <a:schemeClr val="bg2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476EB09-871D-323A-87F3-B37F60B2E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72" y="3333750"/>
            <a:ext cx="8649856" cy="144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Here we can add background on the KPZ equation, universality class, applications </a:t>
            </a:r>
            <a:r>
              <a:rPr lang="en-US" sz="1800" dirty="0" err="1"/>
              <a:t>etc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775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A9EC-BE6A-681E-AD26-0F9EB31B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7B40-C766-32EF-D54C-38625B84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Explain how universality class changes in higher d (more interesting dynamics), also how the gradient term becomes less impactful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4ACFC0-BF52-D538-51AC-0BC554F7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941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E134C-644A-454A-60CA-3CA377026F41}"/>
              </a:ext>
            </a:extLst>
          </p:cNvPr>
          <p:cNvSpPr txBox="1"/>
          <p:nvPr/>
        </p:nvSpPr>
        <p:spPr>
          <a:xfrm>
            <a:off x="2650" y="4917910"/>
            <a:ext cx="273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/>
                </a:solidFill>
                <a:effectLst/>
              </a:rPr>
              <a:t>[2] </a:t>
            </a:r>
            <a:r>
              <a:rPr lang="en-US" sz="800" i="1" dirty="0">
                <a:solidFill>
                  <a:schemeClr val="bg2"/>
                </a:solidFill>
              </a:rPr>
              <a:t>Liu Physical Review X 13, 031039 (2023)</a:t>
            </a:r>
            <a:endParaRPr lang="fr-FR" sz="800" i="1" dirty="0">
              <a:solidFill>
                <a:schemeClr val="bg2"/>
              </a:solidFill>
            </a:endParaRPr>
          </a:p>
          <a:p>
            <a:endParaRPr lang="en-US" sz="800" i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75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6FE33-2852-23D6-196D-492A5624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3AB818-DDD3-3649-7794-41A053DE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04" y="397390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Implementation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B36505-E497-8332-939A-4997B1CB3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Tricks needed to solve KPZ in higher dimensions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0302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9B65-1383-9AC9-636E-CC3CC97D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169372-69C9-44D0-25A6-8DAB9C03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72" y="380821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Results – Solutions (1-2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90B2F-5E45-0964-6D86-47204CF1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Im</a:t>
            </a:r>
            <a:r>
              <a:rPr lang="en-US" sz="1800" dirty="0"/>
              <a:t> thinking we just add a bunch of plots/animations to show the dynamics of the system (</a:t>
            </a:r>
            <a:r>
              <a:rPr lang="en-US" sz="1800" dirty="0" err="1"/>
              <a:t>ie</a:t>
            </a:r>
            <a:r>
              <a:rPr lang="en-US" sz="1800" dirty="0"/>
              <a:t> how the interface grows over time and how the different parameters impact growth). Ballistic growth model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6500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0147-8B4A-6521-C5A6-B4BAD7A4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731DAB-D9DD-7E16-4A19-6529B954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72" y="380821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Results – Universality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D172-8256-632D-D767-C354DE652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Here we should calculate the new critical exponents as a function of the dimensionality and plot them.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646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F8CD-9EB8-0B8B-2F30-7F5C484E6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766C30-F309-4928-B7AE-A82E17B5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72" y="380821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Results – Dimensionality reduction (1-2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1152-6B0B-FC13-3024-0505E9CAE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Here’s where we can show PCA analysis, and discuss the implications for the dynamics in higher dimensions. Compare PCA to UMAP etc.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0171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7876-A32A-385D-E2B8-31BDDB08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9F9ECB-60C9-1653-3532-339C8F10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72" y="380821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A2371-22E8-F56D-BC3D-48C230CE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Discuss what we learned about dynamics in higher dimensions, and how that is relevant for growth etc.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448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722B-2CAB-E989-8911-CA2BD211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CF6A3-633D-54B3-96A6-D34EA90F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72" y="380821"/>
            <a:ext cx="8726055" cy="504370"/>
          </a:xfrm>
        </p:spPr>
        <p:txBody>
          <a:bodyPr>
            <a:noAutofit/>
          </a:bodyPr>
          <a:lstStyle/>
          <a:p>
            <a:r>
              <a:rPr lang="en-US" sz="2400" b="1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DBE2-A953-FDA5-5DB2-EF1741094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0" y="981574"/>
            <a:ext cx="8592379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Short bullet points about the main takeaways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5664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4D17-83E3-5D85-1C6B-10D1B2E2C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4E480-7499-AB24-61B6-92989CB6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58" y="1276350"/>
            <a:ext cx="8026842" cy="3276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i="1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4400" i="1" dirty="0">
                <a:solidFill>
                  <a:schemeClr val="bg2"/>
                </a:solidFill>
              </a:rPr>
              <a:t>Questions?</a:t>
            </a:r>
            <a:endParaRPr lang="en-US" sz="4400" i="1" dirty="0"/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900" dirty="0">
              <a:effectLst/>
            </a:endParaRPr>
          </a:p>
          <a:p>
            <a:pPr marL="0" indent="0">
              <a:buNone/>
            </a:pPr>
            <a:endParaRPr lang="en-US" sz="1200" i="1" dirty="0">
              <a:solidFill>
                <a:schemeClr val="bg2"/>
              </a:solidFill>
              <a:effectLst/>
            </a:endParaRPr>
          </a:p>
          <a:p>
            <a:pPr marL="0" indent="0">
              <a:buNone/>
            </a:pPr>
            <a:endParaRPr lang="it-IT" sz="1200" dirty="0">
              <a:effectLst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049BF1-5114-00ED-8E23-C6FE66F81A89}"/>
              </a:ext>
            </a:extLst>
          </p:cNvPr>
          <p:cNvSpPr txBox="1">
            <a:spLocks/>
          </p:cNvSpPr>
          <p:nvPr/>
        </p:nvSpPr>
        <p:spPr>
          <a:xfrm>
            <a:off x="381000" y="514350"/>
            <a:ext cx="8610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lnSpc>
                <a:spcPct val="90000"/>
              </a:lnSpc>
              <a:spcAft>
                <a:spcPts val="600"/>
              </a:spcAft>
            </a:pPr>
            <a:r>
              <a:rPr lang="en-US" sz="3100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878DB-82FD-743D-255A-147CAB047E04}"/>
              </a:ext>
            </a:extLst>
          </p:cNvPr>
          <p:cNvSpPr txBox="1"/>
          <p:nvPr/>
        </p:nvSpPr>
        <p:spPr>
          <a:xfrm>
            <a:off x="6988075" y="4804946"/>
            <a:ext cx="2155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/>
                </a:solidFill>
                <a:effectLst/>
              </a:rPr>
              <a:t>[1] </a:t>
            </a:r>
            <a:r>
              <a:rPr lang="fr-FR" sz="800" dirty="0" err="1">
                <a:solidFill>
                  <a:schemeClr val="bg2"/>
                </a:solidFill>
              </a:rPr>
              <a:t>Libretexts</a:t>
            </a:r>
            <a:r>
              <a:rPr lang="fr-FR" sz="800" dirty="0">
                <a:solidFill>
                  <a:schemeClr val="bg2"/>
                </a:solidFill>
              </a:rPr>
              <a:t>, </a:t>
            </a:r>
            <a:r>
              <a:rPr lang="fr-FR" sz="800" dirty="0" err="1">
                <a:solidFill>
                  <a:schemeClr val="bg2"/>
                </a:solidFill>
              </a:rPr>
              <a:t>Physics</a:t>
            </a:r>
            <a:r>
              <a:rPr lang="fr-FR" sz="800" dirty="0">
                <a:solidFill>
                  <a:schemeClr val="bg2"/>
                </a:solidFill>
              </a:rPr>
              <a:t> </a:t>
            </a:r>
            <a:r>
              <a:rPr lang="fr-FR" sz="800" dirty="0" err="1">
                <a:solidFill>
                  <a:schemeClr val="bg2"/>
                </a:solidFill>
              </a:rPr>
              <a:t>LibreTexts</a:t>
            </a:r>
            <a:r>
              <a:rPr lang="fr-FR" sz="800" dirty="0">
                <a:solidFill>
                  <a:schemeClr val="bg2"/>
                </a:solidFill>
              </a:rPr>
              <a:t> (2024). </a:t>
            </a:r>
          </a:p>
          <a:p>
            <a:endParaRPr lang="en-US" sz="800" i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69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A6ADD-C09E-2B66-8C57-EE47B94E5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17335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800" dirty="0">
              <a:effectLst/>
            </a:endParaRPr>
          </a:p>
          <a:p>
            <a:pPr marL="0" indent="0">
              <a:buNone/>
            </a:pPr>
            <a:endParaRPr lang="en-US" sz="900" dirty="0">
              <a:effectLst/>
            </a:endParaRPr>
          </a:p>
          <a:p>
            <a:pPr marL="0" indent="0">
              <a:buNone/>
            </a:pPr>
            <a:endParaRPr lang="en-US" sz="1200" i="1" dirty="0">
              <a:solidFill>
                <a:schemeClr val="bg2"/>
              </a:solidFill>
              <a:effectLst/>
            </a:endParaRPr>
          </a:p>
          <a:p>
            <a:pPr marL="0" indent="0">
              <a:buNone/>
            </a:pPr>
            <a:endParaRPr lang="it-IT" sz="1200" dirty="0">
              <a:effectLst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F14A6A-4ABE-4540-CB65-071DCF817F46}"/>
              </a:ext>
            </a:extLst>
          </p:cNvPr>
          <p:cNvSpPr txBox="1">
            <a:spLocks/>
          </p:cNvSpPr>
          <p:nvPr/>
        </p:nvSpPr>
        <p:spPr>
          <a:xfrm>
            <a:off x="381000" y="514350"/>
            <a:ext cx="8610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lnSpc>
                <a:spcPct val="90000"/>
              </a:lnSpc>
              <a:spcAft>
                <a:spcPts val="600"/>
              </a:spcAft>
            </a:pPr>
            <a:r>
              <a:rPr lang="en-US" sz="3100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64338-01C3-9756-509B-C0CA801CDB90}"/>
              </a:ext>
            </a:extLst>
          </p:cNvPr>
          <p:cNvSpPr txBox="1"/>
          <p:nvPr/>
        </p:nvSpPr>
        <p:spPr>
          <a:xfrm>
            <a:off x="6988075" y="4804946"/>
            <a:ext cx="2155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/>
                </a:solidFill>
                <a:effectLst/>
              </a:rPr>
              <a:t>[1] </a:t>
            </a:r>
            <a:r>
              <a:rPr lang="fr-FR" sz="800" dirty="0" err="1">
                <a:solidFill>
                  <a:schemeClr val="bg2"/>
                </a:solidFill>
              </a:rPr>
              <a:t>Libretexts</a:t>
            </a:r>
            <a:r>
              <a:rPr lang="fr-FR" sz="800" dirty="0">
                <a:solidFill>
                  <a:schemeClr val="bg2"/>
                </a:solidFill>
              </a:rPr>
              <a:t>, </a:t>
            </a:r>
            <a:r>
              <a:rPr lang="fr-FR" sz="800" dirty="0" err="1">
                <a:solidFill>
                  <a:schemeClr val="bg2"/>
                </a:solidFill>
              </a:rPr>
              <a:t>Physics</a:t>
            </a:r>
            <a:r>
              <a:rPr lang="fr-FR" sz="800" dirty="0">
                <a:solidFill>
                  <a:schemeClr val="bg2"/>
                </a:solidFill>
              </a:rPr>
              <a:t> </a:t>
            </a:r>
            <a:r>
              <a:rPr lang="fr-FR" sz="800" dirty="0" err="1">
                <a:solidFill>
                  <a:schemeClr val="bg2"/>
                </a:solidFill>
              </a:rPr>
              <a:t>LibreTexts</a:t>
            </a:r>
            <a:r>
              <a:rPr lang="fr-FR" sz="800" dirty="0">
                <a:solidFill>
                  <a:schemeClr val="bg2"/>
                </a:solidFill>
              </a:rPr>
              <a:t> (2024). </a:t>
            </a:r>
          </a:p>
          <a:p>
            <a:endParaRPr lang="en-US" sz="800" i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238793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23499</TotalTime>
  <Words>259</Words>
  <Application>Microsoft Office PowerPoint</Application>
  <PresentationFormat>On-screen Show (16:9)</PresentationFormat>
  <Paragraphs>56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16-9 Cover</vt:lpstr>
      <vt:lpstr>16-9 Light Background</vt:lpstr>
      <vt:lpstr>16-9 White Backgroud</vt:lpstr>
      <vt:lpstr>PowerPoint Presentation</vt:lpstr>
      <vt:lpstr>Background</vt:lpstr>
      <vt:lpstr>Motivation</vt:lpstr>
      <vt:lpstr>Implementation</vt:lpstr>
      <vt:lpstr>Results – Solutions (1-2 slides)</vt:lpstr>
      <vt:lpstr>Results – Universality Class</vt:lpstr>
      <vt:lpstr>Results – Dimensionality reduction (1-2 slides)</vt:lpstr>
      <vt:lpstr>Discussion</vt:lpstr>
      <vt:lpstr>Conclusions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Beardshear, Jack E</cp:lastModifiedBy>
  <cp:revision>430</cp:revision>
  <cp:lastPrinted>2011-01-24T02:49:42Z</cp:lastPrinted>
  <dcterms:created xsi:type="dcterms:W3CDTF">2011-06-30T15:04:08Z</dcterms:created>
  <dcterms:modified xsi:type="dcterms:W3CDTF">2025-12-01T22:18:55Z</dcterms:modified>
  <cp:category/>
</cp:coreProperties>
</file>